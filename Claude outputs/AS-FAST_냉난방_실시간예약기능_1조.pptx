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2286000"/>
            <a:ext cx="8412480" cy="8412480"/>
          </a:xfrm>
          <a:prstGeom prst="ellipse">
            <a:avLst/>
          </a:prstGeom>
          <a:solidFill>
            <a:srgbClr val="2F5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88198" y="2958998"/>
            <a:ext cx="7066483" cy="7066483"/>
          </a:xfrm>
          <a:prstGeom prst="ellipse">
            <a:avLst/>
          </a:prstGeom>
          <a:solidFill>
            <a:srgbClr val="2F5FF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661197" y="3631997"/>
            <a:ext cx="5720486" cy="5720486"/>
          </a:xfrm>
          <a:prstGeom prst="ellipse">
            <a:avLst/>
          </a:prstGeom>
          <a:solidFill>
            <a:srgbClr val="2F5FFF">
              <a:alpha val="3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50070" y="4220870"/>
            <a:ext cx="4542739" cy="4542739"/>
          </a:xfrm>
          <a:prstGeom prst="ellipse">
            <a:avLst/>
          </a:prstGeom>
          <a:solidFill>
            <a:srgbClr val="2F5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838944" y="4809744"/>
            <a:ext cx="3364992" cy="3364992"/>
          </a:xfrm>
          <a:prstGeom prst="ellipse">
            <a:avLst/>
          </a:prstGeom>
          <a:solidFill>
            <a:srgbClr val="2F5FFF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385755" y="5356555"/>
            <a:ext cx="2271370" cy="2271370"/>
          </a:xfrm>
          <a:prstGeom prst="ellipse">
            <a:avLst/>
          </a:prstGeom>
          <a:solidFill>
            <a:srgbClr val="2F5FFF">
              <a:alpha val="7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890504" y="5861304"/>
            <a:ext cx="1261872" cy="1261872"/>
          </a:xfrm>
          <a:prstGeom prst="ellipse">
            <a:avLst/>
          </a:prstGeom>
          <a:solidFill>
            <a:srgbClr val="2F5FFF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0" y="502920"/>
            <a:ext cx="384048" cy="384048"/>
          </a:xfrm>
          <a:prstGeom prst="ellipse">
            <a:avLst/>
          </a:prstGeom>
          <a:ln w="15240">
            <a:solidFill>
              <a:srgbClr val="2F5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8266" y="502920"/>
            <a:ext cx="384048" cy="384048"/>
          </a:xfrm>
          <a:prstGeom prst="ellipse">
            <a:avLst/>
          </a:prstGeom>
          <a:ln w="15240">
            <a:solidFill>
              <a:srgbClr val="2F5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1051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대주제 · 웹 서비스 기능 구현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1463040"/>
            <a:ext cx="8686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냉/난방 AS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예약 기능</a:t>
            </a:r>
            <a:endParaRPr lang="en-US" sz="50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14173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60" dirty="0">
                <a:solidFill>
                  <a:srgbClr val="2F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760" dirty="0"/>
          </a:p>
        </p:txBody>
      </p:sp>
      <p:sp>
        <p:nvSpPr>
          <p:cNvPr id="14" name="Shape 12"/>
          <p:cNvSpPr/>
          <p:nvPr/>
        </p:nvSpPr>
        <p:spPr>
          <a:xfrm>
            <a:off x="822960" y="361188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61188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소주제-2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5074920"/>
            <a:ext cx="493776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2120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1조   김보현 · 박진호 · 안상현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562356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기간   2026.09.08 – 09.17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" y="6327648"/>
            <a:ext cx="365760" cy="365760"/>
          </a:xfrm>
          <a:prstGeom prst="ellipse">
            <a:avLst/>
          </a:prstGeom>
          <a:solidFill>
            <a:srgbClr val="2F5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6327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1/13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indent="0" marL="0">
              <a:buNone/>
            </a:pPr>
            <a:r>
              <a:rPr lang="en-US" sz="1200" b="1" spc="100" kern="0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——  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 개요 — 새로고침 없이, 실시간으로 이어지는 예약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91672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2723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00800"/>
            <a:ext cx="365760" cy="365760"/>
          </a:xfrm>
          <a:prstGeom prst="ellipse">
            <a:avLst/>
          </a:prstGeom>
          <a:solidFill>
            <a:srgbClr val="2F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2/13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AS-FAST · 냉/난방 AS 실시간 예약 기능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 rot="5400000">
            <a:off x="11868912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1조 · STUDY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828800"/>
            <a:ext cx="2419274" cy="3566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2651760"/>
            <a:ext cx="196207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냉방 / 난방 선택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429000"/>
            <a:ext cx="196207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탭 클릭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14218" y="3611880"/>
            <a:ext cx="301752" cy="0"/>
          </a:xfrm>
          <a:prstGeom prst="line">
            <a:avLst/>
          </a:prstGeom>
          <a:noFill/>
          <a:ln w="15875">
            <a:solidFill>
              <a:srgbClr val="2F5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3324530" y="3557016"/>
            <a:ext cx="109728" cy="109728"/>
          </a:xfrm>
          <a:prstGeom prst="triangle">
            <a:avLst/>
          </a:prstGeom>
          <a:solidFill>
            <a:srgbClr val="2F5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3470834" y="1828800"/>
            <a:ext cx="2419274" cy="3566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0834" y="1828800"/>
            <a:ext cx="4572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70834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699434" y="2651760"/>
            <a:ext cx="196207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카테고리 조회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3699434" y="3429000"/>
            <a:ext cx="196207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 비동기 요청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4972" y="3611880"/>
            <a:ext cx="301752" cy="0"/>
          </a:xfrm>
          <a:prstGeom prst="line">
            <a:avLst/>
          </a:prstGeom>
          <a:noFill/>
          <a:ln w="15875">
            <a:solidFill>
              <a:srgbClr val="2F5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6155284" y="3557016"/>
            <a:ext cx="109728" cy="109728"/>
          </a:xfrm>
          <a:prstGeom prst="triangle">
            <a:avLst/>
          </a:prstGeom>
          <a:solidFill>
            <a:srgbClr val="2F5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1588" y="1828800"/>
            <a:ext cx="2419274" cy="3566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01588" y="1828800"/>
            <a:ext cx="4572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1588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530188" y="2651760"/>
            <a:ext cx="196207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제품 · 증상 · 시간 입력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6530188" y="3429000"/>
            <a:ext cx="196207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폼 작성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775725" y="3611880"/>
            <a:ext cx="301752" cy="0"/>
          </a:xfrm>
          <a:prstGeom prst="line">
            <a:avLst/>
          </a:prstGeom>
          <a:noFill/>
          <a:ln w="15875">
            <a:solidFill>
              <a:srgbClr val="2F5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5400000">
            <a:off x="8986037" y="3557016"/>
            <a:ext cx="109728" cy="109728"/>
          </a:xfrm>
          <a:prstGeom prst="triangle">
            <a:avLst/>
          </a:prstGeom>
          <a:solidFill>
            <a:srgbClr val="2F5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132341" y="1828800"/>
            <a:ext cx="2419274" cy="3566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32341" y="1828800"/>
            <a:ext cx="4572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9132341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360941" y="2651760"/>
            <a:ext cx="196207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예약 상태 실시간 반영</a:t>
            </a:r>
            <a:endParaRPr lang="en-US" sz="1450" dirty="0"/>
          </a:p>
        </p:txBody>
      </p:sp>
      <p:sp>
        <p:nvSpPr>
          <p:cNvPr id="36" name="Text 34"/>
          <p:cNvSpPr txBox="1"/>
          <p:nvPr/>
        </p:nvSpPr>
        <p:spPr>
          <a:xfrm>
            <a:off x="9360941" y="3429000"/>
            <a:ext cx="196207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접수 → 배정 → 이동중 → 완료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핵심은 “화면 이동 · 새로고침 없이” 다음 단계로 자연스럽게 이어지는 경험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indent="0" marL="0">
              <a:buNone/>
            </a:pPr>
            <a:r>
              <a:rPr lang="en-US" sz="1200" b="1" spc="100" kern="0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——   Background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기획 배경 — 왜 “실시간”이어야 하는가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91672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2723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00800"/>
            <a:ext cx="365760" cy="365760"/>
          </a:xfrm>
          <a:prstGeom prst="ellipse">
            <a:avLst/>
          </a:prstGeom>
          <a:solidFill>
            <a:srgbClr val="2F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3/13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AS-FAST · 냉/난방 AS 실시간 예약 기능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 rot="5400000">
            <a:off x="11868912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1조 · STUDY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783080"/>
            <a:ext cx="5120640" cy="4434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05740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05740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A/S 예약 방식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2918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전화 상담 → 상담원 배정까지 대기 시간 발생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411480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다른 손님이 같은 시간대를 예약했는지 알 수 없음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9377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후 진행 상황을 다시 전화로 확인해야 함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26480" y="1783080"/>
            <a:ext cx="5120640" cy="4434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0" y="2057400"/>
            <a:ext cx="1554480" cy="402336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0800" y="2057400"/>
            <a:ext cx="1554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0" y="26517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AS-FAST 실시간 예약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32918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냉/난방 선택 즉시 카테고리를 비동기로 조회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00800" y="411480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가능 시간표에서 마감 여부를 바로 확인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93776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접수 → 배정 → 이동중 → 완료까지 상태가 실시간 반영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pPr indent="0" marL="0">
              <a:buNone/>
            </a:pPr>
            <a:r>
              <a:rPr lang="en-US" sz="1200" b="1" spc="100" kern="0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——   Tech Stack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91672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2723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00800"/>
            <a:ext cx="365760" cy="365760"/>
          </a:xfrm>
          <a:prstGeom prst="ellipse">
            <a:avLst/>
          </a:prstGeom>
          <a:solidFill>
            <a:srgbClr val="2F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4/13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AS-FAST · 냉/난방 AS 실시간 예약 기능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 rot="5400000">
            <a:off x="11868912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1조 · STUDY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828800"/>
            <a:ext cx="2453564" cy="384048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ln w="15875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670048"/>
            <a:ext cx="19049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154680"/>
            <a:ext cx="19963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#Spring Boot 4.0.8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611880"/>
            <a:ext cx="19963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#Java 17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4069080"/>
            <a:ext cx="19963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#MyBatis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459404" y="1828800"/>
            <a:ext cx="2453564" cy="384048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33724" y="2103120"/>
            <a:ext cx="457200" cy="457200"/>
          </a:xfrm>
          <a:prstGeom prst="ellipse">
            <a:avLst/>
          </a:prstGeom>
          <a:ln w="15875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33724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3733724" y="2670048"/>
            <a:ext cx="19049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3733724" y="3154680"/>
            <a:ext cx="19963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#Thymeleaf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733724" y="3611880"/>
            <a:ext cx="19963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#Layout Dialect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78728" y="1828800"/>
            <a:ext cx="2453564" cy="384048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53048" y="2103120"/>
            <a:ext cx="457200" cy="457200"/>
          </a:xfrm>
          <a:prstGeom prst="ellipse">
            <a:avLst/>
          </a:prstGeom>
          <a:ln w="15875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5304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553048" y="2670048"/>
            <a:ext cx="19049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553048" y="3154680"/>
            <a:ext cx="19963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#MariaDB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553048" y="3611880"/>
            <a:ext cx="19963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#log4jdbc (쿼리 로그)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98051" y="1828800"/>
            <a:ext cx="2453564" cy="384048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72371" y="2103120"/>
            <a:ext cx="457200" cy="457200"/>
          </a:xfrm>
          <a:prstGeom prst="ellipse">
            <a:avLst/>
          </a:prstGeom>
          <a:ln w="15875">
            <a:solidFill>
              <a:srgbClr val="11111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372371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372371" y="2670048"/>
            <a:ext cx="19049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9372371" y="3154680"/>
            <a:ext cx="19963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#JavaScript (ES6)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9372371" y="3611880"/>
            <a:ext cx="19963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#axios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372371" y="4069080"/>
            <a:ext cx="19963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#Session 기반 로그인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pPr indent="0" marL="0">
              <a:buNone/>
            </a:pPr>
            <a:r>
              <a:rPr lang="en-US" sz="1200" b="1" spc="100" kern="0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——   User 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화면 흐름 — 와이어프레임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91672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2723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00800"/>
            <a:ext cx="365760" cy="365760"/>
          </a:xfrm>
          <a:prstGeom prst="ellipse">
            <a:avLst/>
          </a:prstGeom>
          <a:solidFill>
            <a:srgbClr val="2F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5/13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AS-FAST · 냉/난방 AS 실시간 예약 기능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 rot="5400000">
            <a:off x="11868912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1조 · STUDY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77240" y="1920240"/>
            <a:ext cx="196596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86968" y="2029968"/>
            <a:ext cx="1746504" cy="256032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886968" y="2414016"/>
            <a:ext cx="1746504" cy="38404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86968" y="2414016"/>
            <a:ext cx="174650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A/S 예약하기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86968" y="2944368"/>
            <a:ext cx="1746504" cy="502920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6968" y="3575304"/>
            <a:ext cx="1746504" cy="640080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4343400"/>
            <a:ext cx="533400" cy="292608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93520" y="4343400"/>
            <a:ext cx="533400" cy="292608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00072" y="4343400"/>
            <a:ext cx="533400" cy="292608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1920240"/>
            <a:ext cx="365760" cy="365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6509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46120" y="1920240"/>
            <a:ext cx="196596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55848" y="2029968"/>
            <a:ext cx="1746504" cy="201168"/>
          </a:xfrm>
          <a:prstGeom prst="rect">
            <a:avLst/>
          </a:prstGeom>
          <a:solidFill>
            <a:srgbClr val="D6D6D6"/>
          </a:solidFill>
          <a:ln/>
        </p:spPr>
      </p:sp>
      <p:sp>
        <p:nvSpPr>
          <p:cNvPr id="25" name="Shape 23"/>
          <p:cNvSpPr/>
          <p:nvPr/>
        </p:nvSpPr>
        <p:spPr>
          <a:xfrm>
            <a:off x="3355848" y="2377440"/>
            <a:ext cx="836676" cy="347472"/>
          </a:xfrm>
          <a:prstGeom prst="rect">
            <a:avLst/>
          </a:prstGeom>
          <a:solidFill>
            <a:srgbClr val="1A1A1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65676" y="2377440"/>
            <a:ext cx="836676" cy="347472"/>
          </a:xfrm>
          <a:prstGeom prst="rect">
            <a:avLst/>
          </a:prstGeom>
          <a:solidFill>
            <a:srgbClr val="1A1A1A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55848" y="2871216"/>
            <a:ext cx="533400" cy="594360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62400" y="2871216"/>
            <a:ext cx="533400" cy="594360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68952" y="2871216"/>
            <a:ext cx="533400" cy="594360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55848" y="3611880"/>
            <a:ext cx="1746504" cy="64008"/>
          </a:xfrm>
          <a:prstGeom prst="rect">
            <a:avLst/>
          </a:prstGeom>
          <a:solidFill>
            <a:srgbClr val="D6D6D6"/>
          </a:solidFill>
          <a:ln/>
        </p:spPr>
      </p:sp>
      <p:sp>
        <p:nvSpPr>
          <p:cNvPr id="31" name="Shape 29"/>
          <p:cNvSpPr/>
          <p:nvPr/>
        </p:nvSpPr>
        <p:spPr>
          <a:xfrm>
            <a:off x="3355848" y="3758184"/>
            <a:ext cx="960577" cy="64008"/>
          </a:xfrm>
          <a:prstGeom prst="rect">
            <a:avLst/>
          </a:prstGeom>
          <a:solidFill>
            <a:srgbClr val="D6D6D6"/>
          </a:solidFill>
          <a:ln/>
        </p:spPr>
      </p:sp>
      <p:sp>
        <p:nvSpPr>
          <p:cNvPr id="32" name="Shape 30"/>
          <p:cNvSpPr/>
          <p:nvPr/>
        </p:nvSpPr>
        <p:spPr>
          <a:xfrm>
            <a:off x="3355848" y="3941064"/>
            <a:ext cx="1746504" cy="365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355848" y="3941064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46120" y="1920240"/>
            <a:ext cx="365760" cy="365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24612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3246120" y="56509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신청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715000" y="1920240"/>
            <a:ext cx="196596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824728" y="2029968"/>
            <a:ext cx="186799" cy="292608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84679" y="2029968"/>
            <a:ext cx="186799" cy="292608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44630" y="2029968"/>
            <a:ext cx="186799" cy="292608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04581" y="2029968"/>
            <a:ext cx="186799" cy="292608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64531" y="2029968"/>
            <a:ext cx="186799" cy="292608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124482" y="2029968"/>
            <a:ext cx="186799" cy="292608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84433" y="2029968"/>
            <a:ext cx="186799" cy="292608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24728" y="2450592"/>
            <a:ext cx="381762" cy="329184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79642" y="2450592"/>
            <a:ext cx="381762" cy="329184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734556" y="2450592"/>
            <a:ext cx="381762" cy="329184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89470" y="2450592"/>
            <a:ext cx="381762" cy="329184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24728" y="2871216"/>
            <a:ext cx="381762" cy="329184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79642" y="2871216"/>
            <a:ext cx="381762" cy="329184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734556" y="2871216"/>
            <a:ext cx="381762" cy="329184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189470" y="2871216"/>
            <a:ext cx="381762" cy="329184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24728" y="3291840"/>
            <a:ext cx="381762" cy="329184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79642" y="3291840"/>
            <a:ext cx="381762" cy="329184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734556" y="3291840"/>
            <a:ext cx="381762" cy="329184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189470" y="3291840"/>
            <a:ext cx="381762" cy="329184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824728" y="3767328"/>
            <a:ext cx="1746504" cy="365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5824728" y="3767328"/>
            <a:ext cx="17465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확정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5715000" y="1920240"/>
            <a:ext cx="365760" cy="365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57150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5715000" y="56509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시간표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183880" y="1920240"/>
            <a:ext cx="1965960" cy="365760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293608" y="2029968"/>
            <a:ext cx="1746504" cy="310896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93608" y="2487168"/>
            <a:ext cx="1746504" cy="502920"/>
          </a:xfrm>
          <a:prstGeom prst="rect">
            <a:avLst/>
          </a:prstGeom>
          <a:solidFill>
            <a:srgbClr val="F1F1F1"/>
          </a:solidFill>
          <a:ln w="9525">
            <a:solidFill>
              <a:srgbClr val="D6D6D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293608" y="3154680"/>
            <a:ext cx="1746504" cy="64008"/>
          </a:xfrm>
          <a:prstGeom prst="rect">
            <a:avLst/>
          </a:prstGeom>
          <a:solidFill>
            <a:srgbClr val="D6D6D6"/>
          </a:solidFill>
          <a:ln/>
        </p:spPr>
      </p:sp>
      <p:sp>
        <p:nvSpPr>
          <p:cNvPr id="66" name="Shape 64"/>
          <p:cNvSpPr/>
          <p:nvPr/>
        </p:nvSpPr>
        <p:spPr>
          <a:xfrm>
            <a:off x="8293608" y="3300984"/>
            <a:ext cx="1746504" cy="64008"/>
          </a:xfrm>
          <a:prstGeom prst="rect">
            <a:avLst/>
          </a:prstGeom>
          <a:solidFill>
            <a:srgbClr val="D6D6D6"/>
          </a:solidFill>
          <a:ln/>
        </p:spPr>
      </p:sp>
      <p:sp>
        <p:nvSpPr>
          <p:cNvPr id="67" name="Shape 65"/>
          <p:cNvSpPr/>
          <p:nvPr/>
        </p:nvSpPr>
        <p:spPr>
          <a:xfrm>
            <a:off x="8293608" y="3447288"/>
            <a:ext cx="1746504" cy="64008"/>
          </a:xfrm>
          <a:prstGeom prst="rect">
            <a:avLst/>
          </a:prstGeom>
          <a:solidFill>
            <a:srgbClr val="D6D6D6"/>
          </a:solidFill>
          <a:ln/>
        </p:spPr>
      </p:sp>
      <p:sp>
        <p:nvSpPr>
          <p:cNvPr id="68" name="Shape 66"/>
          <p:cNvSpPr/>
          <p:nvPr/>
        </p:nvSpPr>
        <p:spPr>
          <a:xfrm>
            <a:off x="8293608" y="3593592"/>
            <a:ext cx="960577" cy="64008"/>
          </a:xfrm>
          <a:prstGeom prst="rect">
            <a:avLst/>
          </a:prstGeom>
          <a:solidFill>
            <a:srgbClr val="D6D6D6"/>
          </a:solidFill>
          <a:ln/>
        </p:spPr>
      </p:sp>
      <p:sp>
        <p:nvSpPr>
          <p:cNvPr id="69" name="Shape 67"/>
          <p:cNvSpPr/>
          <p:nvPr/>
        </p:nvSpPr>
        <p:spPr>
          <a:xfrm>
            <a:off x="8293608" y="3794760"/>
            <a:ext cx="1746504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8293608" y="3794760"/>
            <a:ext cx="17465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예약 취소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8183880" y="1920240"/>
            <a:ext cx="365760" cy="3657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818388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8183880" y="565099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상세 · 타임라인</a:t>
            </a:r>
            <a:endParaRPr lang="en-US" sz="1100" dirty="0"/>
          </a:p>
        </p:txBody>
      </p:sp>
      <p:sp>
        <p:nvSpPr>
          <p:cNvPr id="74" name="Text 72"/>
          <p:cNvSpPr txBox="1"/>
          <p:nvPr/>
        </p:nvSpPr>
        <p:spPr>
          <a:xfrm>
            <a:off x="685800" y="59893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시간표 — 마감된 시간은 회색 처리, 방금 마감된 시간은 강조 표시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pPr indent="0" marL="0">
              <a:buNone/>
            </a:pPr>
            <a:r>
              <a:rPr lang="en-US" sz="1200" b="1" spc="100" kern="0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——   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설계 — 예약 도메인 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91672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2723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00800"/>
            <a:ext cx="365760" cy="365760"/>
          </a:xfrm>
          <a:prstGeom prst="ellipse">
            <a:avLst/>
          </a:prstGeom>
          <a:solidFill>
            <a:srgbClr val="2F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6/13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AS-FAST · 냉/난방 AS 실시간 예약 기능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 rot="5400000">
            <a:off x="11868912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1조 · STUDY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783080"/>
            <a:ext cx="301752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783080"/>
            <a:ext cx="301752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17830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29514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MEM_ID (PK)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6060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MEM_NAME / MEM_ROLE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291693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 / ADDR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549640" y="1783080"/>
            <a:ext cx="3017520" cy="2286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49640" y="1783080"/>
            <a:ext cx="301752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49640" y="1783080"/>
            <a:ext cx="3017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750808" y="2295144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CATEGORY_NO (PK)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750808" y="26060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CATEGORY_NAME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750808" y="2916936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PRODUCT_TYPE (냉방/난방)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434840" y="3063240"/>
            <a:ext cx="3291840" cy="265176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34840" y="3063240"/>
            <a:ext cx="3291840" cy="40233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434840" y="306324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636008" y="357530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RESERVE_NO (PK)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388620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MEM_ID (FK)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4197096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CATEGORY_NO (FK)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636008" y="4507992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RESERVE_DATE / STATUS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4636008" y="481888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VISIT_ADDR / SYMPTOM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148840" y="4069080"/>
            <a:ext cx="2286000" cy="-137160"/>
          </a:xfrm>
          <a:prstGeom prst="line">
            <a:avLst/>
          </a:prstGeom>
          <a:noFill/>
          <a:ln w="15875">
            <a:solidFill>
              <a:srgbClr val="6B6B6B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7726680" y="3291840"/>
            <a:ext cx="822960" cy="960120"/>
          </a:xfrm>
          <a:prstGeom prst="line">
            <a:avLst/>
          </a:prstGeom>
          <a:noFill/>
          <a:ln w="15875">
            <a:solidFill>
              <a:srgbClr val="6B6B6B"/>
            </a:solidFill>
            <a:prstDash val="dash"/>
          </a:ln>
        </p:spPr>
      </p:sp>
      <p:sp>
        <p:nvSpPr>
          <p:cNvPr id="33" name="Text 31"/>
          <p:cNvSpPr txBox="1"/>
          <p:nvPr/>
        </p:nvSpPr>
        <p:spPr>
          <a:xfrm>
            <a:off x="2651760" y="36118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909560" y="3063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5943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RESERVE_STATUS 코드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14600" y="591616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9AA0A6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2514600" y="591616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· 접수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886200" y="591616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2F5FFF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3886200" y="591616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배정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257800" y="591616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E8792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257800" y="591616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이동중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629400" y="591616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1F9254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629400" y="591616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· 완료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001000" y="5916168"/>
            <a:ext cx="1234440" cy="329184"/>
          </a:xfrm>
          <a:prstGeom prst="roundRect">
            <a:avLst>
              <a:gd name="adj" fmla="val 50000"/>
            </a:avLst>
          </a:prstGeom>
          <a:solidFill>
            <a:srgbClr val="D33B3B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001000" y="5916168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취소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pPr indent="0" marL="0">
              <a:buNone/>
            </a:pPr>
            <a:r>
              <a:rPr lang="en-US" sz="1200" b="1" spc="100" kern="0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——   Implementation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구현 ① — 카테고리 실시간(비동기) 조회 흐름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91672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2723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00800"/>
            <a:ext cx="365760" cy="365760"/>
          </a:xfrm>
          <a:prstGeom prst="ellipse">
            <a:avLst/>
          </a:prstGeom>
          <a:solidFill>
            <a:srgbClr val="2F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7/13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AS-FAST · 냉/난방 AS 실시간 예약 기능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 rot="5400000">
            <a:off x="11868912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1조 · STUDY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92328" y="2103120"/>
            <a:ext cx="155448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3768" y="210312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냉/난방 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4240" y="2743200"/>
            <a:ext cx="201168" cy="0"/>
          </a:xfrm>
          <a:prstGeom prst="line">
            <a:avLst/>
          </a:prstGeom>
          <a:noFill/>
          <a:ln w="15875">
            <a:solidFill>
              <a:srgbClr val="2F5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400000">
            <a:off x="2483968" y="2688336"/>
            <a:ext cx="109728" cy="109728"/>
          </a:xfrm>
          <a:prstGeom prst="triangle">
            <a:avLst/>
          </a:prstGeom>
          <a:solidFill>
            <a:srgbClr val="2F5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2602840" y="2103120"/>
            <a:ext cx="155448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94280" y="210312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axios.get()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/reserve/category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84752" y="2743200"/>
            <a:ext cx="201168" cy="0"/>
          </a:xfrm>
          <a:prstGeom prst="line">
            <a:avLst/>
          </a:prstGeom>
          <a:noFill/>
          <a:ln w="15875">
            <a:solidFill>
              <a:srgbClr val="2F5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5400000">
            <a:off x="4294480" y="2688336"/>
            <a:ext cx="109728" cy="109728"/>
          </a:xfrm>
          <a:prstGeom prst="triangle">
            <a:avLst/>
          </a:prstGeom>
          <a:solidFill>
            <a:srgbClr val="2F5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413352" y="2103120"/>
            <a:ext cx="155448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04792" y="210312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@RestController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95264" y="2743200"/>
            <a:ext cx="201168" cy="0"/>
          </a:xfrm>
          <a:prstGeom prst="line">
            <a:avLst/>
          </a:prstGeom>
          <a:noFill/>
          <a:ln w="15875">
            <a:solidFill>
              <a:srgbClr val="2F5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5400000">
            <a:off x="6104992" y="2688336"/>
            <a:ext cx="109728" cy="109728"/>
          </a:xfrm>
          <a:prstGeom prst="triangle">
            <a:avLst/>
          </a:prstGeom>
          <a:solidFill>
            <a:srgbClr val="2F5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223864" y="2103120"/>
            <a:ext cx="155448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15304" y="210312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805776" y="2743200"/>
            <a:ext cx="201168" cy="0"/>
          </a:xfrm>
          <a:prstGeom prst="line">
            <a:avLst/>
          </a:prstGeom>
          <a:noFill/>
          <a:ln w="15875">
            <a:solidFill>
              <a:srgbClr val="2F5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5400000">
            <a:off x="7915504" y="2688336"/>
            <a:ext cx="109728" cy="109728"/>
          </a:xfrm>
          <a:prstGeom prst="triangle">
            <a:avLst/>
          </a:prstGeom>
          <a:solidFill>
            <a:srgbClr val="2F5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034376" y="2103120"/>
            <a:ext cx="155448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125816" y="210312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(MyBatis)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616288" y="2743200"/>
            <a:ext cx="201168" cy="0"/>
          </a:xfrm>
          <a:prstGeom prst="line">
            <a:avLst/>
          </a:prstGeom>
          <a:noFill/>
          <a:ln w="15875">
            <a:solidFill>
              <a:srgbClr val="2F5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5400000">
            <a:off x="9726016" y="2688336"/>
            <a:ext cx="109728" cy="109728"/>
          </a:xfrm>
          <a:prstGeom prst="triangle">
            <a:avLst/>
          </a:prstGeom>
          <a:solidFill>
            <a:srgbClr val="2F5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9844888" y="2103120"/>
            <a:ext cx="1554480" cy="12801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936328" y="2103120"/>
            <a:ext cx="1371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92328" y="1755648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요청 (GET, 비동기)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43788" y="4160520"/>
            <a:ext cx="228600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135228" y="41605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응답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(카테고리 목록)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66364" y="4663440"/>
            <a:ext cx="246888" cy="0"/>
          </a:xfrm>
          <a:prstGeom prst="line">
            <a:avLst/>
          </a:prstGeom>
          <a:noFill/>
          <a:ln w="15875">
            <a:solidFill>
              <a:srgbClr val="2F5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5400000">
            <a:off x="3521812" y="4608576"/>
            <a:ext cx="109728" cy="109728"/>
          </a:xfrm>
          <a:prstGeom prst="triangle">
            <a:avLst/>
          </a:prstGeom>
          <a:solidFill>
            <a:srgbClr val="2F5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3649828" y="4160520"/>
            <a:ext cx="228600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741268" y="41605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res.data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972404" y="4663440"/>
            <a:ext cx="246888" cy="0"/>
          </a:xfrm>
          <a:prstGeom prst="line">
            <a:avLst/>
          </a:prstGeom>
          <a:noFill/>
          <a:ln w="15875">
            <a:solidFill>
              <a:srgbClr val="2F5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5400000">
            <a:off x="6127852" y="4608576"/>
            <a:ext cx="109728" cy="109728"/>
          </a:xfrm>
          <a:prstGeom prst="triangle">
            <a:avLst/>
          </a:prstGeom>
          <a:solidFill>
            <a:srgbClr val="2F5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6255868" y="4160520"/>
            <a:ext cx="228600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347308" y="41605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renderGrid()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578444" y="4663440"/>
            <a:ext cx="246888" cy="0"/>
          </a:xfrm>
          <a:prstGeom prst="line">
            <a:avLst/>
          </a:prstGeom>
          <a:noFill/>
          <a:ln w="15875">
            <a:solidFill>
              <a:srgbClr val="2F5FF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5400000">
            <a:off x="8733892" y="4608576"/>
            <a:ext cx="109728" cy="109728"/>
          </a:xfrm>
          <a:prstGeom prst="triangle">
            <a:avLst/>
          </a:prstGeom>
          <a:solidFill>
            <a:srgbClr val="2F5FFF"/>
          </a:solidFill>
          <a:ln/>
        </p:spPr>
      </p:sp>
      <p:sp>
        <p:nvSpPr>
          <p:cNvPr id="46" name="Shape 44"/>
          <p:cNvSpPr/>
          <p:nvPr/>
        </p:nvSpPr>
        <p:spPr>
          <a:xfrm>
            <a:off x="8861908" y="4160520"/>
            <a:ext cx="2286000" cy="1005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953348" y="416052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UI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갱신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1043788" y="3813048"/>
            <a:ext cx="10104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응답 (JSON → 새로고침 없이 화면 갱신)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pPr indent="0" marL="0">
              <a:buNone/>
            </a:pPr>
            <a:r>
              <a:rPr lang="en-US" sz="1200" b="1" spc="100" kern="0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——   Implementation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구현 ② — 선택된 탭만 활성 스타일 유지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91672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2723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00800"/>
            <a:ext cx="365760" cy="365760"/>
          </a:xfrm>
          <a:prstGeom prst="ellipse">
            <a:avLst/>
          </a:prstGeom>
          <a:solidFill>
            <a:srgbClr val="2F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8/13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AS-FAST · 냉/난방 AS 실시간 예약 기능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 rot="5400000">
            <a:off x="11868912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1조 · STUDY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85800" y="1920240"/>
            <a:ext cx="3931920" cy="777240"/>
          </a:xfrm>
          <a:prstGeom prst="rect">
            <a:avLst/>
          </a:prstGeom>
          <a:solidFill>
            <a:srgbClr val="F1F1F1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011680"/>
            <a:ext cx="1828800" cy="59436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77240" y="2011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냉방 기기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01168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난방 기기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2834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class="tab active"          class="tab"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0" y="1828800"/>
            <a:ext cx="6492240" cy="411480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4924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goProduct.js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349240" y="2331720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goProduct = (productType, btn) =&gt; {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2660904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모든 탭에서 active 클래스 제거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99008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document.querySelectorAll('.tab')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3319272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.forEach(tab =&gt; tab.classList.remove('active'));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3648456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3977640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방금 클릭한 탭에만 active 추가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4306824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btn.classList.add('active');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349240" y="4636008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4965192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카테고리 비동기 조회 ...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349240" y="5294376"/>
            <a:ext cx="5852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93776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classList.remove()로 전체 초기화 후, classList.add()로 클릭한 요소에만 다시 부여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어떤 탭을 눌러도 상태 표시가 어긋나지 않음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pPr indent="0" marL="0">
              <a:buNone/>
            </a:pPr>
            <a:r>
              <a:rPr lang="en-US" sz="1200" b="1" spc="100" kern="0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——   Implementation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구현 ③ — 예약 상태 코드 → 멘트 매핑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91672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2723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00800"/>
            <a:ext cx="365760" cy="365760"/>
          </a:xfrm>
          <a:prstGeom prst="ellipse">
            <a:avLst/>
          </a:prstGeom>
          <a:solidFill>
            <a:srgbClr val="2F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9/13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AS-FAST · 냉/난방 AS 실시간 예약 기능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 rot="5400000">
            <a:off x="11868912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1조 · STUDY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85800" y="1828800"/>
            <a:ext cx="7040880" cy="379476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1965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103120" y="19659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상태 배지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19659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멘트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2331720"/>
            <a:ext cx="667512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2423160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65960" y="2569464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9AA0A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965960" y="2569464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접수됨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206240" y="2423160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"예약 접수됨"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68680" y="3081528"/>
            <a:ext cx="66751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3081528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965960" y="3227832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F5F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965960" y="322783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배정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308152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"기사님 배정 완료"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68680" y="3739896"/>
            <a:ext cx="66751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3739896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965960" y="3886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E8792E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965960" y="3886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이동중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206240" y="373989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"기사님 방문 중"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68680" y="4398264"/>
            <a:ext cx="66751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4398264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965960" y="4544568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F925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1965960" y="4544568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206240" y="439826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"수리 완료"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868680" y="5056632"/>
            <a:ext cx="667512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5056632"/>
            <a:ext cx="914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965960" y="5202936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D33B3B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1965960" y="5202936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취소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4206240" y="505663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"예약 취소됨"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001000" y="1828800"/>
            <a:ext cx="3566160" cy="3794760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275320" y="19659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getStatusText.js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75320" y="2331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getStatusText = (status) =&gt; {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275320" y="271576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(status === '0') return '예약 접수됨';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8275320" y="309981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(status === '1') return '배정 완료';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8275320" y="3483864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(status === '2') return '방문 중';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8275320" y="3867912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(status === '9') return '수리 완료';</a:t>
            </a:r>
            <a:endParaRPr lang="en-US" sz="950" dirty="0"/>
          </a:p>
        </p:txBody>
      </p:sp>
      <p:sp>
        <p:nvSpPr>
          <p:cNvPr id="47" name="Text 45"/>
          <p:cNvSpPr txBox="1"/>
          <p:nvPr/>
        </p:nvSpPr>
        <p:spPr>
          <a:xfrm>
            <a:off x="8275320" y="4251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(status === 'C') return '취소됨';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8275320" y="46360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'상태 확인 중'; // 기본값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8275320" y="5020056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DED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pPr indent="0" marL="0">
              <a:buNone/>
            </a:pPr>
            <a:r>
              <a:rPr lang="en-US" sz="1200" b="1" spc="100" kern="0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——   Troubleshooting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트러블슈팅 — 겪었던 문제와 해결 과정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91672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2723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00800"/>
            <a:ext cx="365760" cy="365760"/>
          </a:xfrm>
          <a:prstGeom prst="ellipse">
            <a:avLst/>
          </a:prstGeom>
          <a:solidFill>
            <a:srgbClr val="2F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10/13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AS-FAST · 냉/난방 AS 실시간 예약 기능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 rot="5400000">
            <a:off x="11868912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1조 · STUDY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40080" y="1783080"/>
            <a:ext cx="5349240" cy="4434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80160" y="1828800"/>
            <a:ext cx="4434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80160" y="182880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 · 레이아웃 CSS 미연결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4400" y="246888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24688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28346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프로필/카드 스타일이 전혀 적용되지 않음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37033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14400" y="37033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0690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Thymeleaf Layout Dialect에서 페이지가 선언한 CSS fragment를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레이아웃 &lt;head&gt;가 받아주지 않아 최종 HTML에서 누락됨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" y="49377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4400" y="49377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3035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레이아웃 파일 &lt;head&gt;에 layout:fragment="content_css"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placeholder를 추가해 각 페이지 CSS가 삽입되도록 수정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28232" y="1783080"/>
            <a:ext cx="5349240" cy="443484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28232" y="1783080"/>
            <a:ext cx="457200" cy="457200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28232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068312" y="1828800"/>
            <a:ext cx="44348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068312" y="182880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 · undefined 노출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702552" y="246888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702552" y="24688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702552" y="283464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화면에 값 대신 글자 그대로 "undefined" 표시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702552" y="370332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702552" y="370332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6702552" y="406908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템플릿 리터럴에서 존재하지 않는 속성(categoyNo 오타)을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참조 → JS가 undefined를 문자열로 그대로 출력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702552" y="49377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702552" y="493776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해결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6702552" y="5303520"/>
            <a:ext cx="48006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오타 수정 + 함수 마지막에 기본 return 값을 추가해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예상 못한 값이 와도 안전하게 처리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pPr indent="0" marL="0">
              <a:buNone/>
            </a:pPr>
            <a:r>
              <a:rPr lang="en-US" sz="1200" b="1" spc="100" kern="0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——   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팀원 소개 · 역할 분담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91672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2723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00800"/>
            <a:ext cx="365760" cy="365760"/>
          </a:xfrm>
          <a:prstGeom prst="ellipse">
            <a:avLst/>
          </a:prstGeom>
          <a:solidFill>
            <a:srgbClr val="2F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11/13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AS-FAST · 냉/난방 AS 실시간 예약 기능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 rot="5400000">
            <a:off x="11868912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1조 · STUDY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700888" y="1965960"/>
            <a:ext cx="3291840" cy="374904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43888" y="2331720"/>
            <a:ext cx="1005840" cy="1005840"/>
          </a:xfrm>
          <a:prstGeom prst="ellipse">
            <a:avLst/>
          </a:prstGeom>
          <a:ln w="1905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43888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883768" y="3566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김보현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83768" y="4023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입력 예정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249528" y="4526280"/>
            <a:ext cx="219456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75208" y="4709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#담당파트  #작성예정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49928" y="1965960"/>
            <a:ext cx="3291840" cy="374904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92928" y="2331720"/>
            <a:ext cx="1005840" cy="1005840"/>
          </a:xfrm>
          <a:prstGeom prst="ellipse">
            <a:avLst/>
          </a:prstGeom>
          <a:ln w="1905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92928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4632808" y="3566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박진호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632808" y="4023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입력 예정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98568" y="4526280"/>
            <a:ext cx="219456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24248" y="4709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#담당파트  #작성예정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98968" y="1965960"/>
            <a:ext cx="3291840" cy="374904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341968" y="2331720"/>
            <a:ext cx="1005840" cy="1005840"/>
          </a:xfrm>
          <a:prstGeom prst="ellipse">
            <a:avLst/>
          </a:prstGeom>
          <a:ln w="1905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341968" y="233172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</a:t>
            </a:r>
            <a:endParaRPr lang="en-US" sz="3000" dirty="0"/>
          </a:p>
        </p:txBody>
      </p:sp>
      <p:sp>
        <p:nvSpPr>
          <p:cNvPr id="28" name="Text 26"/>
          <p:cNvSpPr txBox="1"/>
          <p:nvPr/>
        </p:nvSpPr>
        <p:spPr>
          <a:xfrm>
            <a:off x="8381848" y="356616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안상현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8381848" y="4023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입력 예정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747608" y="4526280"/>
            <a:ext cx="219456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473288" y="4709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#담당파트  #작성예정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pPr indent="0" marL="0">
              <a:buNone/>
            </a:pPr>
            <a:r>
              <a:rPr lang="en-US" sz="1200" b="1" spc="100" kern="0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——   Retrospective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회고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9167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91672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72723" y="365760"/>
            <a:ext cx="329184" cy="329184"/>
          </a:xfrm>
          <a:prstGeom prst="ellipse">
            <a:avLst/>
          </a:prstGeom>
          <a:ln w="13970">
            <a:solidFill>
              <a:srgbClr val="2F5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6400800"/>
            <a:ext cx="365760" cy="365760"/>
          </a:xfrm>
          <a:prstGeom prst="ellipse">
            <a:avLst/>
          </a:prstGeom>
          <a:solidFill>
            <a:srgbClr val="2F5F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12/13</a:t>
            </a:r>
            <a:endParaRPr lang="en-US" sz="7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645566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AS-FAST · 냉/난방 AS 실시간 예약 기능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 rot="5400000">
            <a:off x="11868912" y="26517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1조 · STUDY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1078992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2350008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pPr indent="0" marL="0">
              <a:buNone/>
            </a:pPr>
            <a:r>
              <a:rPr lang="en-US" sz="2200" b="1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——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1488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배운 점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651760" y="260604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예정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3474720"/>
            <a:ext cx="1078992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3858768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pPr indent="0" marL="0">
              <a:buNone/>
            </a:pPr>
            <a:r>
              <a:rPr lang="en-US" sz="2200" b="1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——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36576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아쉬운 점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651760" y="411480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예정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983480"/>
            <a:ext cx="10789920" cy="1280160"/>
          </a:xfrm>
          <a:prstGeom prst="rect">
            <a:avLst/>
          </a:prstGeom>
          <a:solidFill>
            <a:srgbClr val="FAFAFA"/>
          </a:solidFill>
          <a:ln w="12700">
            <a:solidFill>
              <a:srgbClr val="D6D6D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05840" y="5367528"/>
            <a:ext cx="1463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pPr indent="0" marL="0">
              <a:buNone/>
            </a:pPr>
            <a:r>
              <a:rPr lang="en-US" sz="2200" b="1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——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2651760" y="516636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다음에 해보고 싶은 것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651760" y="562356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작성 예정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377440" y="2286000"/>
            <a:ext cx="7680960" cy="7680960"/>
          </a:xfrm>
          <a:prstGeom prst="ellipse">
            <a:avLst/>
          </a:prstGeom>
          <a:solidFill>
            <a:srgbClr val="2F5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762963" y="2900477"/>
            <a:ext cx="6452006" cy="6452006"/>
          </a:xfrm>
          <a:prstGeom prst="ellipse">
            <a:avLst/>
          </a:prstGeom>
          <a:solidFill>
            <a:srgbClr val="2F5FFF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148486" y="3514954"/>
            <a:ext cx="5223053" cy="5223053"/>
          </a:xfrm>
          <a:prstGeom prst="ellipse">
            <a:avLst/>
          </a:prstGeom>
          <a:solidFill>
            <a:srgbClr val="2F5FFF">
              <a:alpha val="3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610819" y="4052621"/>
            <a:ext cx="4147718" cy="4147718"/>
          </a:xfrm>
          <a:prstGeom prst="ellipse">
            <a:avLst/>
          </a:prstGeom>
          <a:solidFill>
            <a:srgbClr val="2F5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73152" y="4590288"/>
            <a:ext cx="3072384" cy="3072384"/>
          </a:xfrm>
          <a:prstGeom prst="ellipse">
            <a:avLst/>
          </a:prstGeom>
          <a:solidFill>
            <a:srgbClr val="2F5FFF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26110" y="5089550"/>
            <a:ext cx="2073859" cy="2073859"/>
          </a:xfrm>
          <a:prstGeom prst="ellipse">
            <a:avLst/>
          </a:prstGeom>
          <a:solidFill>
            <a:srgbClr val="2F5FFF">
              <a:alpha val="7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886968" y="5550408"/>
            <a:ext cx="1152144" cy="1152144"/>
          </a:xfrm>
          <a:prstGeom prst="ellipse">
            <a:avLst/>
          </a:prstGeom>
          <a:solidFill>
            <a:srgbClr val="2F5FFF">
              <a:alpha val="9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0" y="502920"/>
            <a:ext cx="384048" cy="384048"/>
          </a:xfrm>
          <a:prstGeom prst="ellipse">
            <a:avLst/>
          </a:prstGeom>
          <a:ln w="15240">
            <a:solidFill>
              <a:srgbClr val="2F5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818266" y="502920"/>
            <a:ext cx="384048" cy="384048"/>
          </a:xfrm>
          <a:prstGeom prst="ellipse">
            <a:avLst/>
          </a:prstGeom>
          <a:ln w="15240">
            <a:solidFill>
              <a:srgbClr val="2F5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7818120" y="2331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60" dirty="0">
                <a:solidFill>
                  <a:srgbClr val="2F5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2760" dirty="0"/>
          </a:p>
        </p:txBody>
      </p:sp>
      <p:sp>
        <p:nvSpPr>
          <p:cNvPr id="13" name="Text 11"/>
          <p:cNvSpPr txBox="1"/>
          <p:nvPr/>
        </p:nvSpPr>
        <p:spPr>
          <a:xfrm>
            <a:off x="0" y="333756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spc="300" kern="0" dirty="0">
                <a:solidFill>
                  <a:srgbClr val="2F5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937760" y="4160520"/>
            <a:ext cx="2286000" cy="0"/>
          </a:xfrm>
          <a:prstGeom prst="line">
            <a:avLst/>
          </a:prstGeom>
          <a:noFill/>
          <a:ln w="12700">
            <a:solidFill>
              <a:srgbClr val="D6D6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0" y="626364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AS-FAST · 냉/난방 AS 실시간 예약 기능   |   1조 김보현 · 박진호 · 안상현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6400800"/>
            <a:ext cx="365760" cy="365760"/>
          </a:xfrm>
          <a:prstGeom prst="ellipse">
            <a:avLst/>
          </a:prstGeom>
          <a:solidFill>
            <a:srgbClr val="2F5F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6400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2026-09-14T06:45:03Z</dcterms:created>
  <dcterms:modified xsi:type="dcterms:W3CDTF">2026-09-14T06:45:03Z</dcterms:modified>
</cp:coreProperties>
</file>